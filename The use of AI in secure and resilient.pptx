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3" r:id="rId4"/>
    <p:sldId id="258" r:id="rId5"/>
    <p:sldId id="259" r:id="rId6"/>
    <p:sldId id="260" r:id="rId7"/>
    <p:sldId id="261" r:id="rId8"/>
    <p:sldId id="257" r:id="rId9"/>
    <p:sldId id="262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B18C-0FFE-636F-926D-1F0CBC445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644C2-6EEA-38B9-96A4-D89C9BDBA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3E1C7-B716-5C95-4016-D283573AC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24E3-6BCC-4F67-A64D-7C8C7E2F8895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06535-9AF3-B8A9-9642-7E765B7C1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1EE7F-5E11-F601-38B2-70A39F288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B04FC-4E0F-4D13-8B8A-E1D63BA0F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98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6B018-A622-EC8E-3207-F26902BE2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6D4AA-EB9D-FFC1-7D00-7566965AF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F869D-4CB3-403B-7E18-B3FF06485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24E3-6BCC-4F67-A64D-7C8C7E2F8895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E7774-A669-D3A2-660F-D72B3FC4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111E8-2B2B-6D39-C00E-95FD635B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B04FC-4E0F-4D13-8B8A-E1D63BA0F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76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5409C-CE33-C7A7-E4B9-4E5733119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F854C-8E9C-D4E7-62FB-E53E62F52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7442B-E2CE-BFB3-7797-8DF8E9AAD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24E3-6BCC-4F67-A64D-7C8C7E2F8895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F8800-B859-8FE4-3D0D-D064E0666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BBAF-7D3B-3B4A-BCAD-0EE3293F8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B04FC-4E0F-4D13-8B8A-E1D63BA0F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749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10FAA-1F77-D113-EAAF-28151BB21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94CDA-94DF-55A0-536A-C2C72814B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52BCB-1287-2700-55E2-EC140DB60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A102E-29A8-7C8C-860F-39497378F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24E3-6BCC-4F67-A64D-7C8C7E2F8895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5F27B-2514-E818-5CA6-F9FA4AE51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9407D-BEF9-6501-08BC-5EF596BBC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B04FC-4E0F-4D13-8B8A-E1D63BA0F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867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9D48D-CCC6-B2E8-8654-C3CD4229F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62F4E-D402-BB06-BB6C-EAC0DE525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62ED1C-D288-6FEF-5297-EE58BB331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B2B028-D5CD-9B72-61EE-0EF669E0AB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ABFE10-C3B8-7B0B-F60F-048FC9C360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4BF905-9E4E-8A8E-369B-3FA5DF22D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24E3-6BCC-4F67-A64D-7C8C7E2F8895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DC1127-1C86-E05A-42A4-6DD19B65E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67A25-93ED-23A2-2FEB-8C17DCD1A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B04FC-4E0F-4D13-8B8A-E1D63BA0F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500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F4B7A-0985-42DC-CAED-60F4459FC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901BE7-1C97-D0D8-1F04-9059F8FC8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24E3-6BCC-4F67-A64D-7C8C7E2F8895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3765C4-4DC4-AC3D-4197-75ED2438E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97591-C4FD-4395-8563-668926B15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B04FC-4E0F-4D13-8B8A-E1D63BA0F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9850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D30788-3FAD-EBEE-1F70-7DA2ABEF3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24E3-6BCC-4F67-A64D-7C8C7E2F8895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8934B0-32D4-86F1-48E3-D1645EBC8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899AA-713D-F38F-27F1-9CB1434FD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B04FC-4E0F-4D13-8B8A-E1D63BA0F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47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8AD6-CCD0-5750-D870-6D0C79925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F996A-D327-4B32-6396-F87332406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51848-661F-FE67-4FE4-8386765AC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D0004-7A42-6D95-03DB-169172E45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24E3-6BCC-4F67-A64D-7C8C7E2F8895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BD96A-720C-6FAE-80C3-AAD36E1FB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7C058-EF4C-F753-D975-30473B037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B04FC-4E0F-4D13-8B8A-E1D63BA0F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659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05FC0-576C-2546-D2E8-E2B3BCB61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7E2670-56B1-240F-9C73-7CAEBC41F7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224BB-02F9-7C0A-1641-3665933B6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CC7EF-4F31-8F99-5B3C-DCE4F756C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24E3-6BCC-4F67-A64D-7C8C7E2F8895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4FD7A-607F-BCF3-F91D-DCBAF9C34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FC84F-E9B3-6E24-9873-85DFA7F32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B04FC-4E0F-4D13-8B8A-E1D63BA0F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9761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66C7B-8764-5770-C262-8D9F95A41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2C7F25-6D04-7923-0337-38F242015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F6196-E5B2-8A5F-47DA-67DE832DA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24E3-6BCC-4F67-A64D-7C8C7E2F8895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62B36-EC93-4544-E895-EA05F351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C2D4A-AC79-AE71-45AD-BAD730C88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B04FC-4E0F-4D13-8B8A-E1D63BA0F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675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B79A98-C65D-E638-BADA-55CF350AC7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07CBF-652D-8062-0A00-9D13875BB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392E7-B7DE-D776-1B41-076A4E2FD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24E3-6BCC-4F67-A64D-7C8C7E2F8895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A43BC-20F9-A50F-28A9-5E9188041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D91CE-8CFD-911A-F4AF-96C1D1A84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B04FC-4E0F-4D13-8B8A-E1D63BA0F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054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B44DB4-C861-00D5-082A-922A1D7F6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EE529-AF7A-91C7-B6BA-FDEBD7633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F603C-12A7-5203-8B3C-7E28F0DE78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AD24E3-6BCC-4F67-A64D-7C8C7E2F8895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432FB-A622-21FA-46FA-B134A9CA1E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2273-91E2-0A6A-FEE0-429E4026C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AB04FC-4E0F-4D13-8B8A-E1D63BA0F46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1E5E5-CE08-E65C-4131-ABCC39A7A7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01375" y="63500"/>
            <a:ext cx="11557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 / CYHOEDDUS</a:t>
            </a:r>
          </a:p>
        </p:txBody>
      </p:sp>
    </p:spTree>
    <p:extLst>
      <p:ext uri="{BB962C8B-B14F-4D97-AF65-F5344CB8AC3E}">
        <p14:creationId xmlns:p14="http://schemas.microsoft.com/office/powerpoint/2010/main" val="1868024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999DF-1C52-7909-3C4D-7E201096DA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use of AI in secure and resilient cyber systems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CABBA7-59F7-EB3B-18C3-D4F2940EE3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Angela </a:t>
            </a:r>
            <a:r>
              <a:rPr lang="en-GB"/>
              <a:t>Mison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9558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44066-AB76-2AC1-0A9B-C81C7313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secure and resilient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2FBCC-986E-A0C3-D4CA-CF64E484E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Systems are ubiquitous</a:t>
            </a:r>
          </a:p>
          <a:p>
            <a:r>
              <a:rPr lang="en-GB" dirty="0"/>
              <a:t>Society is dependent on systems</a:t>
            </a:r>
          </a:p>
          <a:p>
            <a:r>
              <a:rPr lang="en-GB" dirty="0"/>
              <a:t>Systems are dependent on other systems</a:t>
            </a:r>
          </a:p>
          <a:p>
            <a:r>
              <a:rPr lang="en-GB" dirty="0"/>
              <a:t>The world is increasingly interconnected</a:t>
            </a:r>
          </a:p>
          <a:p>
            <a:r>
              <a:rPr lang="en-GB" dirty="0"/>
              <a:t>Your trusted partners can be your attackers</a:t>
            </a:r>
          </a:p>
          <a:p>
            <a:r>
              <a:rPr lang="en-GB" dirty="0"/>
              <a:t>Systems are automating previously skilled activities</a:t>
            </a:r>
          </a:p>
          <a:p>
            <a:r>
              <a:rPr lang="en-GB" dirty="0"/>
              <a:t>Services are losing knowledge and skills to systems</a:t>
            </a:r>
          </a:p>
          <a:p>
            <a:r>
              <a:rPr lang="en-GB" dirty="0"/>
              <a:t>System loss/malfunction can lead to apocalyptic consequences</a:t>
            </a:r>
          </a:p>
        </p:txBody>
      </p:sp>
    </p:spTree>
    <p:extLst>
      <p:ext uri="{BB962C8B-B14F-4D97-AF65-F5344CB8AC3E}">
        <p14:creationId xmlns:p14="http://schemas.microsoft.com/office/powerpoint/2010/main" val="380476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A8B6A-9C71-1AB4-F460-29AA0D68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secure and resilient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11B6E-3136-2721-5A3B-9637C5079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Confidentiality</a:t>
            </a:r>
          </a:p>
          <a:p>
            <a:r>
              <a:rPr lang="en-GB" dirty="0"/>
              <a:t>Integrity</a:t>
            </a:r>
          </a:p>
          <a:p>
            <a:r>
              <a:rPr lang="en-GB" dirty="0"/>
              <a:t>Availability</a:t>
            </a:r>
          </a:p>
          <a:p>
            <a:r>
              <a:rPr lang="en-GB" dirty="0"/>
              <a:t>Safety</a:t>
            </a:r>
          </a:p>
          <a:p>
            <a:r>
              <a:rPr lang="en-GB" dirty="0"/>
              <a:t>Life cycle manageability</a:t>
            </a:r>
          </a:p>
          <a:p>
            <a:r>
              <a:rPr lang="en-GB" dirty="0"/>
              <a:t>Insurability </a:t>
            </a:r>
            <a:r>
              <a:rPr lang="en-GB" sz="2000" dirty="0"/>
              <a:t>(quantification of risk and financial exposure)</a:t>
            </a:r>
            <a:endParaRPr lang="en-GB" dirty="0"/>
          </a:p>
          <a:p>
            <a:r>
              <a:rPr lang="en-GB" dirty="0"/>
              <a:t>Product liability </a:t>
            </a:r>
            <a:r>
              <a:rPr lang="en-GB" sz="2000" dirty="0"/>
              <a:t>(unavoidable legislative burden – for how long)</a:t>
            </a:r>
            <a:endParaRPr lang="en-GB" dirty="0"/>
          </a:p>
          <a:p>
            <a:r>
              <a:rPr lang="en-GB" dirty="0"/>
              <a:t>Audit </a:t>
            </a:r>
            <a:r>
              <a:rPr lang="en-GB" sz="2000" dirty="0"/>
              <a:t>(Morphological Analysis – why did you make the choices you did)</a:t>
            </a:r>
            <a:endParaRPr lang="en-GB" dirty="0"/>
          </a:p>
          <a:p>
            <a:r>
              <a:rPr lang="en-GB" dirty="0"/>
              <a:t>Forensic explainability </a:t>
            </a:r>
            <a:r>
              <a:rPr lang="en-GB" sz="2000" dirty="0"/>
              <a:t>(Legislative and judicial burdens)</a:t>
            </a:r>
            <a:endParaRPr lang="en-GB" dirty="0"/>
          </a:p>
          <a:p>
            <a:r>
              <a:rPr lang="en-GB" dirty="0"/>
              <a:t>Failure of a system can be an existential threat </a:t>
            </a:r>
            <a:r>
              <a:rPr lang="en-GB" sz="2200" dirty="0"/>
              <a:t>(not always the system’s)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9600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46ADD-E944-C7F5-1D75-853FEA3C6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cyber systems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CE6F0-67D9-EB17-715D-6162FB42D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4609420"/>
          </a:xfrm>
        </p:spPr>
        <p:txBody>
          <a:bodyPr>
            <a:noAutofit/>
          </a:bodyPr>
          <a:lstStyle/>
          <a:p>
            <a:r>
              <a:rPr lang="en-GB" sz="2000" dirty="0"/>
              <a:t>Cyber Systems Engineering is the basis of managing secure and resilient systems in the face of a cyber security skills shortage of 3.5 million.  Its purpose is to enable:</a:t>
            </a:r>
          </a:p>
          <a:p>
            <a:pPr lvl="1"/>
            <a:r>
              <a:rPr lang="en-GB" sz="1600" dirty="0"/>
              <a:t>Design</a:t>
            </a:r>
          </a:p>
          <a:p>
            <a:pPr lvl="1"/>
            <a:r>
              <a:rPr lang="en-GB" sz="1600" dirty="0"/>
              <a:t>Development</a:t>
            </a:r>
          </a:p>
          <a:p>
            <a:pPr lvl="1"/>
            <a:r>
              <a:rPr lang="en-GB" sz="1600" dirty="0"/>
              <a:t>Manageable lifecycle for the maintenance of secure and resilient systems</a:t>
            </a:r>
          </a:p>
          <a:p>
            <a:pPr lvl="1"/>
            <a:endParaRPr lang="en-GB" sz="1600" dirty="0"/>
          </a:p>
          <a:p>
            <a:r>
              <a:rPr lang="en-GB" sz="2000" dirty="0"/>
              <a:t>It is an interdisciplinary field that integrates principles from </a:t>
            </a:r>
          </a:p>
          <a:p>
            <a:pPr lvl="1"/>
            <a:r>
              <a:rPr lang="en-GB" sz="1600" dirty="0"/>
              <a:t>Computer science</a:t>
            </a:r>
          </a:p>
          <a:p>
            <a:pPr lvl="1"/>
            <a:r>
              <a:rPr lang="en-GB" sz="1600" dirty="0"/>
              <a:t>Engineering</a:t>
            </a:r>
          </a:p>
          <a:p>
            <a:pPr lvl="1"/>
            <a:r>
              <a:rPr lang="en-GB" sz="1600" dirty="0"/>
              <a:t>Cybersecurity</a:t>
            </a:r>
          </a:p>
          <a:p>
            <a:pPr lvl="1"/>
            <a:r>
              <a:rPr lang="en-GB" sz="1600" dirty="0"/>
              <a:t>Information systems </a:t>
            </a:r>
          </a:p>
          <a:p>
            <a:pPr lvl="1"/>
            <a:endParaRPr lang="en-GB" sz="1600" dirty="0"/>
          </a:p>
          <a:p>
            <a:r>
              <a:rPr lang="en-GB" sz="2000" dirty="0"/>
              <a:t>It focuses on creating systems that are resilient in the face of errors, failures, cyber threats and failure of cyber security while maintaining acceptable continuity. </a:t>
            </a:r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637410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D628D-B9B3-809C-FFF4-F60F720D8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Key aspects of Cyber Systems Engineering</a:t>
            </a:r>
            <a:br>
              <a:rPr lang="en-GB" sz="4400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5A5FE-BA3D-8CD1-4844-C7A94CE2A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Context and purpose analysis </a:t>
            </a:r>
            <a:r>
              <a:rPr lang="en-GB" sz="2000" dirty="0"/>
              <a:t>(What, where, why – the MAJOR point </a:t>
            </a:r>
            <a:r>
              <a:rPr lang="en-GB" sz="2000"/>
              <a:t>of failure)</a:t>
            </a:r>
            <a:endParaRPr lang="en-GB" sz="2000" dirty="0"/>
          </a:p>
          <a:p>
            <a:r>
              <a:rPr lang="en-GB" sz="2800" dirty="0"/>
              <a:t>System </a:t>
            </a:r>
            <a:r>
              <a:rPr lang="en-GB" dirty="0"/>
              <a:t>d</a:t>
            </a:r>
            <a:r>
              <a:rPr lang="en-GB" sz="2800" dirty="0"/>
              <a:t>esign and architecture</a:t>
            </a:r>
          </a:p>
          <a:p>
            <a:r>
              <a:rPr lang="en-GB" sz="2800" dirty="0"/>
              <a:t>Cybersecurity </a:t>
            </a:r>
            <a:r>
              <a:rPr lang="en-GB" sz="2000" dirty="0"/>
              <a:t>(what is and isn’t the responsibility of cyber people)</a:t>
            </a:r>
            <a:endParaRPr lang="en-GB" sz="2800" dirty="0"/>
          </a:p>
          <a:p>
            <a:r>
              <a:rPr lang="en-GB" sz="2800" dirty="0"/>
              <a:t>Risk management </a:t>
            </a:r>
            <a:r>
              <a:rPr lang="en-GB" sz="2000" dirty="0"/>
              <a:t>(corporate financial reporting of existential risk)</a:t>
            </a:r>
            <a:endParaRPr lang="en-GB" sz="2800" dirty="0"/>
          </a:p>
          <a:p>
            <a:r>
              <a:rPr lang="en-GB" sz="2800" dirty="0"/>
              <a:t>Incident response </a:t>
            </a:r>
            <a:r>
              <a:rPr lang="en-GB" sz="2000" dirty="0"/>
              <a:t>(continuity in the face of failure – not a cybersecurity function)</a:t>
            </a:r>
            <a:endParaRPr lang="en-GB" sz="2800" dirty="0"/>
          </a:p>
          <a:p>
            <a:r>
              <a:rPr lang="en-GB" sz="2800" dirty="0"/>
              <a:t>Compliance, standards, regulations, laws </a:t>
            </a:r>
            <a:r>
              <a:rPr lang="en-GB" sz="2000" dirty="0"/>
              <a:t>(often related to context)</a:t>
            </a:r>
            <a:endParaRPr lang="en-GB" sz="2800" dirty="0"/>
          </a:p>
          <a:p>
            <a:r>
              <a:rPr lang="en-GB" sz="2800" dirty="0"/>
              <a:t>Integration and testing </a:t>
            </a:r>
            <a:r>
              <a:rPr lang="en-GB" sz="2000" dirty="0"/>
              <a:t>(digital twins, redundancy, </a:t>
            </a:r>
            <a:r>
              <a:rPr lang="en-GB" sz="2000" dirty="0" err="1"/>
              <a:t>v&amp;v</a:t>
            </a:r>
            <a:r>
              <a:rPr lang="en-GB" sz="2000" dirty="0"/>
              <a:t>)</a:t>
            </a:r>
            <a:endParaRPr lang="en-GB" sz="2800" dirty="0"/>
          </a:p>
          <a:p>
            <a:r>
              <a:rPr lang="en-GB" sz="2800" dirty="0"/>
              <a:t>Continuous monitoring and improvement </a:t>
            </a:r>
            <a:r>
              <a:rPr lang="en-GB" sz="2000" dirty="0"/>
              <a:t>(change management and system updates)</a:t>
            </a:r>
          </a:p>
        </p:txBody>
      </p:sp>
    </p:spTree>
    <p:extLst>
      <p:ext uri="{BB962C8B-B14F-4D97-AF65-F5344CB8AC3E}">
        <p14:creationId xmlns:p14="http://schemas.microsoft.com/office/powerpoint/2010/main" val="3509154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A72B9-BAFC-A7B1-7804-FF2E112E1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DFAD-6FBF-8FAC-9049-65970A9A9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Artificial Intelligence (AI) focuses on creating systems capable of performing tasks that historically required human intelligence.</a:t>
            </a:r>
            <a:r>
              <a:rPr lang="en-GB" sz="2000" dirty="0"/>
              <a:t> (Cyberphysical v autonomous)</a:t>
            </a:r>
          </a:p>
          <a:p>
            <a:r>
              <a:rPr lang="en-GB" dirty="0"/>
              <a:t>Tasks can include learning, reasoning, problem-solving, perception, and understanding probabilities that inform logical choice </a:t>
            </a:r>
            <a:r>
              <a:rPr lang="en-GB" sz="2000" dirty="0"/>
              <a:t>(Algorithms or more)</a:t>
            </a:r>
            <a:endParaRPr lang="en-GB" dirty="0"/>
          </a:p>
          <a:p>
            <a:r>
              <a:rPr lang="en-GB" dirty="0"/>
              <a:t>AI systems can be designed to perform a wide range of functions, from simple rule-based tasks to complex decision-making </a:t>
            </a:r>
            <a:r>
              <a:rPr lang="en-GB" sz="2000" dirty="0"/>
              <a:t>(Computational complexity)</a:t>
            </a:r>
          </a:p>
          <a:p>
            <a:r>
              <a:rPr lang="en-GB" dirty="0"/>
              <a:t>Depending on whether you want a system that recognises a situation or one that is context based, you can pick your AI to suit </a:t>
            </a:r>
            <a:r>
              <a:rPr lang="en-GB" sz="2000" dirty="0"/>
              <a:t>(</a:t>
            </a:r>
            <a:r>
              <a:rPr lang="en-GB" sz="2000" dirty="0" err="1"/>
              <a:t>Slage</a:t>
            </a:r>
            <a:r>
              <a:rPr lang="en-GB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27220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30C83-8651-9E07-756E-F90A0F34B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aspects of AI include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2E8C7-73E6-D07D-43BA-6725C8B6C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Machine Learning (ML</a:t>
            </a:r>
          </a:p>
          <a:p>
            <a:r>
              <a:rPr lang="en-GB" dirty="0"/>
              <a:t>Natural Language Processing (NLP)</a:t>
            </a:r>
          </a:p>
          <a:p>
            <a:r>
              <a:rPr lang="en-GB" dirty="0"/>
              <a:t>Computer Vision</a:t>
            </a:r>
          </a:p>
          <a:p>
            <a:r>
              <a:rPr lang="en-GB" dirty="0"/>
              <a:t>Robotics</a:t>
            </a:r>
          </a:p>
          <a:p>
            <a:r>
              <a:rPr lang="en-GB" dirty="0"/>
              <a:t>Expert Systems</a:t>
            </a:r>
          </a:p>
          <a:p>
            <a:r>
              <a:rPr lang="en-GB" dirty="0"/>
              <a:t>Deep Learning</a:t>
            </a:r>
          </a:p>
          <a:p>
            <a:r>
              <a:rPr lang="en-GB" dirty="0"/>
              <a:t>Cognitive Computing</a:t>
            </a:r>
          </a:p>
          <a:p>
            <a:r>
              <a:rPr lang="en-GB" dirty="0"/>
              <a:t>Autonomous Systems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6033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914CE-6D24-71C2-766E-424511B2E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Suggested Uses of AI in secure and resilient cyber systems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7AA11-2206-84A7-0A32-B3F603FD6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Threat detection and response</a:t>
            </a:r>
          </a:p>
          <a:p>
            <a:r>
              <a:rPr lang="en-GB" dirty="0"/>
              <a:t>Predictive Analysis</a:t>
            </a:r>
          </a:p>
          <a:p>
            <a:r>
              <a:rPr lang="en-GB" dirty="0"/>
              <a:t>Automated incident response</a:t>
            </a:r>
          </a:p>
          <a:p>
            <a:r>
              <a:rPr lang="en-GB" dirty="0"/>
              <a:t>Behavioural analysis</a:t>
            </a:r>
          </a:p>
          <a:p>
            <a:r>
              <a:rPr lang="en-GB" dirty="0"/>
              <a:t>Enhanced encryption</a:t>
            </a:r>
          </a:p>
          <a:p>
            <a:r>
              <a:rPr lang="en-GB" dirty="0"/>
              <a:t>Resilience engineering</a:t>
            </a:r>
          </a:p>
          <a:p>
            <a:r>
              <a:rPr lang="en-GB" dirty="0"/>
              <a:t>Threat intelligence</a:t>
            </a:r>
          </a:p>
          <a:p>
            <a:r>
              <a:rPr lang="en-GB" dirty="0"/>
              <a:t>Zero day vulnerability detection</a:t>
            </a:r>
          </a:p>
          <a:p>
            <a:r>
              <a:rPr lang="en-GB" dirty="0"/>
              <a:t>Secure software development</a:t>
            </a:r>
          </a:p>
          <a:p>
            <a:r>
              <a:rPr lang="en-GB" dirty="0"/>
              <a:t>Adaptive security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9591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81924-BAF4-A393-9ADA-00632B199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000" kern="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use of AI in the development of secure and resilient systems</a:t>
            </a:r>
            <a:endParaRPr lang="en-GB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1D539-EA00-7168-04C7-F6ED87DC6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4643"/>
            <a:ext cx="10515600" cy="495232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457200" algn="l"/>
              </a:tabLst>
            </a:pPr>
            <a:r>
              <a:rPr lang="en-GB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Threat Detection and Prevention (Fortified cyber defence)</a:t>
            </a:r>
            <a:endParaRPr lang="en-GB" sz="18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GB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Anomaly Detection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GB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Intrusion Detection Systems (IDS) (Cyber defence)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GB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Automated Response (Fortified cyber defence at the API)</a:t>
            </a:r>
            <a:endParaRPr lang="en-GB" sz="18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GB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Incident Response (Isolation and microsegmentation)</a:t>
            </a:r>
            <a:endParaRPr lang="en-GB" sz="18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GB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Remediation (Immutability, mutability, predictability, unpredictability)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GB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Predictive Analytics </a:t>
            </a:r>
            <a:endParaRPr lang="en-GB" sz="18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GB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Risk Assessment (What should never exist in the ODD)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GB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Threat Intelligence (Within the system and outside – risk and priority analysis)</a:t>
            </a:r>
            <a:endParaRPr lang="en-GB" sz="1800" kern="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GB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Enhanced Authentication</a:t>
            </a:r>
            <a:endParaRPr lang="en-GB" sz="18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GB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Biometric Authentication 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GB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Behavioural Biometrics (Pattern of Life, DDT behaviours)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GB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Data Protection:</a:t>
            </a:r>
            <a:endParaRPr lang="en-GB" sz="18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GB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Encryption and Decryption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GB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Data Loss Prevention (DLP) (Pattern of Life)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GB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Resilience and Recovery 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GB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System Resilience (Game and decision theories)</a:t>
            </a:r>
            <a:endParaRPr lang="en-GB" sz="18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GB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Disaster Recovery (Continuity)</a:t>
            </a: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87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72659-6D56-9B6E-8BAA-CDACEF6CD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haven’t I said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00E37-5329-6C33-1064-8ADBECCB8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Test suite specification &amp; redundancy</a:t>
            </a:r>
          </a:p>
          <a:p>
            <a:r>
              <a:rPr lang="en-GB" dirty="0"/>
              <a:t>Synthetic data</a:t>
            </a:r>
          </a:p>
          <a:p>
            <a:r>
              <a:rPr lang="en-GB" dirty="0"/>
              <a:t>This is all about the system and nothing about the context in which it operates and the expectations of users.</a:t>
            </a:r>
          </a:p>
          <a:p>
            <a:r>
              <a:rPr lang="en-GB" dirty="0"/>
              <a:t>Users can be stochastic terrorists</a:t>
            </a:r>
          </a:p>
          <a:p>
            <a:r>
              <a:rPr lang="en-GB" dirty="0"/>
              <a:t>ML is fine – </a:t>
            </a:r>
            <a:r>
              <a:rPr lang="en-GB" dirty="0" err="1"/>
              <a:t>eg</a:t>
            </a:r>
            <a:r>
              <a:rPr lang="en-GB" dirty="0"/>
              <a:t> Alpha Go</a:t>
            </a:r>
          </a:p>
          <a:p>
            <a:r>
              <a:rPr lang="en-GB" dirty="0"/>
              <a:t>DL and Reinforcement learning is better (Alpha Go Zero)</a:t>
            </a:r>
          </a:p>
          <a:p>
            <a:r>
              <a:rPr lang="en-GB" dirty="0"/>
              <a:t>AI + humans beat all of them (so far)</a:t>
            </a:r>
          </a:p>
        </p:txBody>
      </p:sp>
    </p:spTree>
    <p:extLst>
      <p:ext uri="{BB962C8B-B14F-4D97-AF65-F5344CB8AC3E}">
        <p14:creationId xmlns:p14="http://schemas.microsoft.com/office/powerpoint/2010/main" val="4172074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EF711-3B8D-3E1F-441E-F826941E3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I think is more important that security and resilience?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FD60E-997E-1B3E-C564-5E1EC7598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Understanding the broader and social context in which a system will operate/function</a:t>
            </a:r>
          </a:p>
          <a:p>
            <a:r>
              <a:rPr lang="en-GB" dirty="0"/>
              <a:t>Knowing the purpose and goals of the system and the contributions to those purpose and goals that each component of the complicated system makes to the overall purpose</a:t>
            </a:r>
          </a:p>
          <a:p>
            <a:r>
              <a:rPr lang="en-GB" dirty="0"/>
              <a:t>Recognising that complicated systems are manageable</a:t>
            </a:r>
          </a:p>
          <a:p>
            <a:r>
              <a:rPr lang="en-GB" dirty="0"/>
              <a:t>Realising that operating outside its boundaries makes a complicated system complex, incomprehensible, undefined, unmanageable, and potentially emergent</a:t>
            </a:r>
          </a:p>
        </p:txBody>
      </p:sp>
    </p:spTree>
    <p:extLst>
      <p:ext uri="{BB962C8B-B14F-4D97-AF65-F5344CB8AC3E}">
        <p14:creationId xmlns:p14="http://schemas.microsoft.com/office/powerpoint/2010/main" val="1137388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1670F-857E-1683-7D04-552D6254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I think is the greatest threat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EA00D-0DCC-7C87-0729-12639B037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Agile technology – the system becomes unknown as documentation integration lags behind</a:t>
            </a:r>
          </a:p>
          <a:p>
            <a:r>
              <a:rPr lang="en-GB" dirty="0"/>
              <a:t>Bayesian statistics – an opening for positions that cannot be determined in decision theory</a:t>
            </a:r>
          </a:p>
          <a:p>
            <a:r>
              <a:rPr lang="en-GB" dirty="0"/>
              <a:t>Opportunity cost – Well developed systems are expensive and there is no demonstrable measurement of prevention until there is a successful hack</a:t>
            </a:r>
          </a:p>
          <a:p>
            <a:r>
              <a:rPr lang="en-GB" dirty="0"/>
              <a:t>60% of organisations pass on the cost of cyber security and system failures to customers - the cost of cyber security and system failure is increasing almost exponentially</a:t>
            </a:r>
          </a:p>
        </p:txBody>
      </p:sp>
    </p:spTree>
    <p:extLst>
      <p:ext uri="{BB962C8B-B14F-4D97-AF65-F5344CB8AC3E}">
        <p14:creationId xmlns:p14="http://schemas.microsoft.com/office/powerpoint/2010/main" val="2185845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3f0066-c24e-444c-9c2a-7427c31ebeab}" enabled="1" method="Standard" siteId="{e5aafe7c-971b-4ab7-b039-141ad36acec0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1613</TotalTime>
  <Words>862</Words>
  <Application>Microsoft Office PowerPoint</Application>
  <PresentationFormat>Widescreen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Poppins</vt:lpstr>
      <vt:lpstr>Symbol</vt:lpstr>
      <vt:lpstr>Office Theme</vt:lpstr>
      <vt:lpstr>The use of AI in secure and resilient cyber systems engineering</vt:lpstr>
      <vt:lpstr>Why secure and resilient 1</vt:lpstr>
      <vt:lpstr>Why secure and resilient 2</vt:lpstr>
      <vt:lpstr>What is cyber systems engineering</vt:lpstr>
      <vt:lpstr>Key aspects of Cyber Systems Engineering </vt:lpstr>
      <vt:lpstr>What is AI</vt:lpstr>
      <vt:lpstr>Key aspects of AI include</vt:lpstr>
      <vt:lpstr>Suggested Uses of AI in secure and resilient cyber systems engineering</vt:lpstr>
      <vt:lpstr>What is the use of AI in the development of secure and resilient systems</vt:lpstr>
      <vt:lpstr>What haven’t I said</vt:lpstr>
      <vt:lpstr>What do I think is more important that security and resilience?</vt:lpstr>
      <vt:lpstr>What do I think is the greatest threat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Angela Mison</dc:creator>
  <cp:lastModifiedBy>Angela Mison</cp:lastModifiedBy>
  <cp:revision>8</cp:revision>
  <dcterms:created xsi:type="dcterms:W3CDTF">2024-07-12T11:28:50Z</dcterms:created>
  <dcterms:modified xsi:type="dcterms:W3CDTF">2025-11-15T16:51:30Z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PUBLIC / CYHOEDDUS</vt:lpwstr>
  </property>
</Properties>
</file>